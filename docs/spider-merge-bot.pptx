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64008"/>
          </a:xfrm>
          <a:prstGeom prst="rect">
            <a:avLst/>
          </a:prstGeom>
          <a:solidFill>
            <a:srgbClr val="2E6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 i="0">
                <a:solidFill>
                  <a:srgbClr val="FFFFFF"/>
                </a:solidFill>
                <a:latin typeface="Calibri"/>
              </a:rPr>
              <a:t>How the Spider Merge Bot Works</a:t>
            </a:r>
          </a:p>
          <a:p>
            <a:pPr>
              <a:spcBef>
                <a:spcPts val="1400"/>
              </a:spcBef>
            </a:pPr>
            <a:r>
              <a:rPr sz="2400" b="0" i="0">
                <a:solidFill>
                  <a:srgbClr val="C7D2F0"/>
                </a:solidFill>
                <a:latin typeface="Calibri"/>
              </a:rPr>
              <a:t>Automatic forward-merging across release branches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663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1">
                <a:solidFill>
                  <a:srgbClr val="9AA6C0"/>
                </a:solidFill>
                <a:latin typeface="Calibri"/>
              </a:rPr>
              <a:t>A 10-minute intro for new developers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6FF2"/>
                </a:solidFill>
                <a:latin typeface="Calibri"/>
              </a:rPr>
              <a:t>WHY THIS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A1A2E"/>
                </a:solidFill>
                <a:latin typeface="Calibri"/>
              </a:rPr>
              <a:t>The problem it solves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200" b="0" i="0">
                <a:solidFill>
                  <a:srgbClr val="1A1A2E"/>
                </a:solidFill>
                <a:latin typeface="Calibri"/>
              </a:rPr>
              <a:t>•  A fix often lands in an older release branch first — e.g. release-5.8.0.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1A1A2E"/>
                </a:solidFill>
                <a:latin typeface="Calibri"/>
              </a:rPr>
              <a:t>•  But that fix needs to flow forward to newer releases, and eventually to main.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1A1A2E"/>
                </a:solidFill>
                <a:latin typeface="Calibri"/>
              </a:rPr>
              <a:t>•  Doing this by hand across many branches is tedious, easy to forget, and easy to get wrong.</a:t>
            </a:r>
          </a:p>
          <a:p>
            <a:pPr>
              <a:spcAft>
                <a:spcPts val="1600"/>
              </a:spcAft>
            </a:pPr>
            <a:r>
              <a:rPr sz="2200" b="1" i="0">
                <a:solidFill>
                  <a:srgbClr val="2E6FF2"/>
                </a:solidFill>
                <a:latin typeface="Calibri"/>
              </a:rPr>
              <a:t>•  The merge bot automates it — and gets a developer involved only when there's a real conflict.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6FF2"/>
                </a:solidFill>
                <a:latin typeface="Calibri"/>
              </a:rPr>
              <a:t>THE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A1A2E"/>
                </a:solidFill>
                <a:latin typeface="Calibri"/>
              </a:rPr>
              <a:t>What it does: the happy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200" b="0" i="0">
                <a:solidFill>
                  <a:srgbClr val="1A1A2E"/>
                </a:solidFill>
                <a:latin typeface="Calibri"/>
              </a:rPr>
              <a:t>•  When a PR merges, the bot automatically merges it forward through the release chain — all the way to main.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1A1A2E"/>
                </a:solidFill>
                <a:latin typeface="Calibri"/>
              </a:rPr>
              <a:t>•  No human needed for a clean merge. It just happens.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1A1A2E"/>
                </a:solidFill>
                <a:latin typeface="Calibri"/>
              </a:rPr>
              <a:t>•  If a conflict appears, it files an issue and hands you a clean workspace to resolve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572000"/>
            <a:ext cx="10607040" cy="1280160"/>
          </a:xfrm>
          <a:prstGeom prst="roundRect">
            <a:avLst/>
          </a:prstGeom>
          <a:solidFill>
            <a:srgbClr val="F2F5FA"/>
          </a:solidFill>
          <a:ln w="15875">
            <a:solidFill>
              <a:srgbClr val="2E6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 i="0">
                <a:solidFill>
                  <a:srgbClr val="2E6FF2"/>
                </a:solidFill>
                <a:latin typeface="Calibri"/>
              </a:rPr>
              <a:t>Always forward:  </a:t>
            </a:r>
            <a:r>
              <a:rPr sz="2000" b="0" i="0">
                <a:solidFill>
                  <a:srgbClr val="1A1A2E"/>
                </a:solidFill>
                <a:latin typeface="Calibri"/>
              </a:rPr>
              <a:t>newer branches receive the few new commits — never the other way around.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6FF2"/>
                </a:solidFill>
                <a:latin typeface="Calibri"/>
              </a:rPr>
              <a:t>REMEMBER THIS ONE 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A1A2E"/>
                </a:solidFill>
                <a:latin typeface="Calibri"/>
              </a:rPr>
              <a:t>The golden rule for developers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10607040" cy="13716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Always branch from  </a:t>
            </a:r>
            <a:r>
              <a:rPr sz="2400" b="1" i="0">
                <a:solidFill>
                  <a:srgbClr val="7EB0FF"/>
                </a:solidFill>
                <a:latin typeface="Calibri"/>
              </a:rPr>
              <a:t>branch-here-{version}</a:t>
            </a:r>
          </a:p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never from  </a:t>
            </a:r>
            <a:r>
              <a:rPr sz="2400" b="1" i="0">
                <a:solidFill>
                  <a:srgbClr val="FF9B8A"/>
                </a:solidFill>
                <a:latin typeface="Calibri"/>
              </a:rPr>
              <a:t>release-{version}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 i="0">
                <a:solidFill>
                  <a:srgbClr val="1A1A2E"/>
                </a:solidFill>
                <a:latin typeface="Calibri"/>
              </a:rPr>
              <a:t>•  Why: branch-here only contains commits that made it all the way to main.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1A1A2E"/>
                </a:solidFill>
                <a:latin typeface="Calibri"/>
              </a:rPr>
              <a:t>•  So you never inherit anyone else's unresolved merge conflicts.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5B6170"/>
                </a:solidFill>
                <a:latin typeface="Calibri"/>
              </a:rPr>
              <a:t>•  main has no branch-here pointer — it's already the final destination, so branch from main directly.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6FF2"/>
                </a:solidFill>
                <a:latin typeface="Calibri"/>
              </a:rPr>
              <a:t>FOUR KINDS OF BRANCHES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A1A2E"/>
                </a:solidFill>
                <a:latin typeface="Calibri"/>
              </a:rPr>
              <a:t>The branch zoo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920240"/>
          <a:ext cx="106070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846320"/>
                <a:gridCol w="2560320"/>
              </a:tblGrid>
              <a:tr h="621792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Branch</a:t>
                      </a:r>
                    </a:p>
                  </a:txBody>
                  <a:tcPr anchor="ctr" marL="109728" marR="73152" marT="36576" marB="36576">
                    <a:solidFill>
                      <a:srgbClr val="2E6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What it's for</a:t>
                      </a:r>
                    </a:p>
                  </a:txBody>
                  <a:tcPr anchor="ctr" marL="109728" marR="73152" marT="36576" marB="36576">
                    <a:solidFill>
                      <a:srgbClr val="2E6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Who touches it</a:t>
                      </a:r>
                    </a:p>
                  </a:txBody>
                  <a:tcPr anchor="ctr" marL="109728" marR="73152" marT="36576" marB="36576">
                    <a:solidFill>
                      <a:srgbClr val="2E6FF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1A1A2E"/>
                          </a:solidFill>
                          <a:latin typeface="Consolas"/>
                        </a:rPr>
                        <a:t>release-*</a:t>
                      </a:r>
                    </a:p>
                  </a:txBody>
                  <a:tcPr anchor="ctr" marL="109728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A1A2E"/>
                          </a:solidFill>
                          <a:latin typeface="Calibri"/>
                        </a:rPr>
                        <a:t>The actual releases &amp; hotfixes</a:t>
                      </a:r>
                    </a:p>
                  </a:txBody>
                  <a:tcPr anchor="ctr" marL="109728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A1A2E"/>
                          </a:solidFill>
                          <a:latin typeface="Calibri"/>
                        </a:rPr>
                        <a:t>Bot only</a:t>
                      </a:r>
                    </a:p>
                  </a:txBody>
                  <a:tcPr anchor="ctr" marL="109728" marR="73152" marT="36576" marB="36576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1A1A2E"/>
                          </a:solidFill>
                          <a:latin typeface="Consolas"/>
                        </a:rPr>
                        <a:t>branch-here-*</a:t>
                      </a:r>
                    </a:p>
                  </a:txBody>
                  <a:tcPr anchor="ctr" marL="109728" marR="73152" marT="36576" marB="36576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A1A2E"/>
                          </a:solidFill>
                          <a:latin typeface="Calibri"/>
                        </a:rPr>
                        <a:t>Safe points for YOU to branch from</a:t>
                      </a:r>
                    </a:p>
                  </a:txBody>
                  <a:tcPr anchor="ctr" marL="109728" marR="73152" marT="36576" marB="36576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A1A2E"/>
                          </a:solidFill>
                          <a:latin typeface="Calibri"/>
                        </a:rPr>
                        <a:t>You branch from it</a:t>
                      </a:r>
                    </a:p>
                  </a:txBody>
                  <a:tcPr anchor="ctr" marL="109728" marR="73152" marT="36576" marB="36576">
                    <a:solidFill>
                      <a:srgbClr val="F2F5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1A1A2E"/>
                          </a:solidFill>
                          <a:latin typeface="Consolas"/>
                        </a:rPr>
                        <a:t>merge-forward-*</a:t>
                      </a:r>
                    </a:p>
                  </a:txBody>
                  <a:tcPr anchor="ctr" marL="109728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A1A2E"/>
                          </a:solidFill>
                          <a:latin typeface="Calibri"/>
                        </a:rPr>
                        <a:t>An isolated merge chain per PR</a:t>
                      </a:r>
                    </a:p>
                  </a:txBody>
                  <a:tcPr anchor="ctr" marL="109728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A1A2E"/>
                          </a:solidFill>
                          <a:latin typeface="Calibri"/>
                        </a:rPr>
                        <a:t>Bot only</a:t>
                      </a:r>
                    </a:p>
                  </a:txBody>
                  <a:tcPr anchor="ctr" marL="109728" marR="73152" marT="36576" marB="36576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1A1A2E"/>
                          </a:solidFill>
                          <a:latin typeface="Consolas"/>
                        </a:rPr>
                        <a:t>merge-conflicts-*</a:t>
                      </a:r>
                    </a:p>
                  </a:txBody>
                  <a:tcPr anchor="ctr" marL="109728" marR="73152" marT="36576" marB="36576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A1A2E"/>
                          </a:solidFill>
                          <a:latin typeface="Calibri"/>
                        </a:rPr>
                        <a:t>A workspace to resolve a conflict</a:t>
                      </a:r>
                    </a:p>
                  </a:txBody>
                  <a:tcPr anchor="ctr" marL="109728" marR="73152" marT="36576" marB="36576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A1A2E"/>
                          </a:solidFill>
                          <a:latin typeface="Calibri"/>
                        </a:rPr>
                        <a:t>You, when asked</a:t>
                      </a:r>
                    </a:p>
                  </a:txBody>
                  <a:tcPr anchor="ctr" marL="109728" marR="73152" marT="36576" marB="36576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39496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2E6FF2"/>
                </a:solidFill>
                <a:latin typeface="Calibri"/>
              </a:rPr>
              <a:t>Punchline:  </a:t>
            </a:r>
            <a:r>
              <a:rPr sz="2000" b="0" i="0">
                <a:solidFill>
                  <a:srgbClr val="1A1A2E"/>
                </a:solidFill>
                <a:latin typeface="Calibri"/>
              </a:rPr>
              <a:t>you only ever touch branch-here-* (and a workspace if asked). The bot owns the rest.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6FF2"/>
                </a:solidFill>
                <a:latin typeface="Calibri"/>
              </a:rPr>
              <a:t>CONFLICTS ARE NORMAL, NOT FAILURES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A1A2E"/>
                </a:solidFill>
                <a:latin typeface="Calibri"/>
              </a:rPr>
              <a:t>When there's a conflict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200" b="0" i="0">
                <a:solidFill>
                  <a:srgbClr val="1A1A2E"/>
                </a:solidFill>
                <a:latin typeface="Calibri"/>
              </a:rPr>
              <a:t>•  The bot hits a conflict it can't resolve automatically.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1A1A2E"/>
                </a:solidFill>
                <a:latin typeface="Calibri"/>
              </a:rPr>
              <a:t>•  It files an issue and creates a merge-conflicts workspace branch for you.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1A1A2E"/>
                </a:solidFill>
                <a:latin typeface="Calibri"/>
              </a:rPr>
              <a:t>•  You resolve the conflict in that workspace and open a PR.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1A1A2E"/>
                </a:solidFill>
                <a:latin typeface="Calibri"/>
              </a:rPr>
              <a:t>•  A later bot run picks up where it left off and completes the chain forward.</a:t>
            </a:r>
          </a:p>
          <a:p>
            <a:pPr>
              <a:spcAft>
                <a:spcPts val="1600"/>
              </a:spcAft>
            </a:pPr>
            <a:r>
              <a:rPr sz="2200" b="1" i="0">
                <a:solidFill>
                  <a:srgbClr val="1E8E3E"/>
                </a:solidFill>
                <a:latin typeface="Calibri"/>
              </a:rPr>
              <a:t>•  A conflict is expected behavior — an issue was created, not an error.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6FF2"/>
                </a:solidFill>
                <a:latin typeface="Calibri"/>
              </a:rPr>
              <a:t>JUST ENOUGH INTERNALS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A1A2E"/>
                </a:solidFill>
                <a:latin typeface="Calibri"/>
              </a:rPr>
              <a:t>Under the hood &amp;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 i="0">
                <a:solidFill>
                  <a:srgbClr val="1A1A2E"/>
                </a:solidFill>
                <a:latin typeface="Calibri"/>
              </a:rPr>
              <a:t>•  It's a single GitHub Action that runs in two phases:</a:t>
            </a:r>
          </a:p>
          <a:p>
            <a:pPr lvl="1">
              <a:spcAft>
                <a:spcPts val="1200"/>
              </a:spcAft>
            </a:pPr>
            <a:r>
              <a:rPr sz="1800" b="0" i="0">
                <a:solidFill>
                  <a:srgbClr val="1A1A2E"/>
                </a:solidFill>
                <a:latin typeface="Calibri"/>
              </a:rPr>
              <a:t>–  Phase 1 — Auto-merge: merge each PR forward through the release chain.</a:t>
            </a:r>
          </a:p>
          <a:p>
            <a:pPr lvl="1">
              <a:spcAft>
                <a:spcPts val="1200"/>
              </a:spcAft>
            </a:pPr>
            <a:r>
              <a:rPr sz="1800" b="0" i="0">
                <a:solidFill>
                  <a:srgbClr val="1A1A2E"/>
                </a:solidFill>
                <a:latin typeface="Calibri"/>
              </a:rPr>
              <a:t>–  Phase 2 — Branch maintenance: advance branch-here pointers, update releases, clean up.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1A1A2E"/>
                </a:solidFill>
                <a:latin typeface="Calibri"/>
              </a:rPr>
              <a:t>•  Configuration lives in .spider-merge-bot-config.json in the Spider Impact repo.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1A1A2E"/>
                </a:solidFill>
                <a:latin typeface="Calibri"/>
              </a:rPr>
              <a:t>•  If branches get out of sync, manual-merge.sh resets everything to a pristine state.</a:t>
            </a:r>
          </a:p>
          <a:p>
            <a:pPr lvl="1">
              <a:spcAft>
                <a:spcPts val="1200"/>
              </a:spcAft>
            </a:pPr>
            <a:r>
              <a:rPr sz="1800" b="0" i="0">
                <a:solidFill>
                  <a:srgbClr val="5B6170"/>
                </a:solidFill>
                <a:latin typeface="Calibri"/>
              </a:rPr>
              <a:t>–  It's idempotent — if a conflict occurs, resolve it, commit, and re-run.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i="0">
                <a:solidFill>
                  <a:srgbClr val="FFFFFF"/>
                </a:solidFill>
                <a:latin typeface="Calibri"/>
              </a:rPr>
              <a:t>Cheat sheet</a:t>
            </a:r>
          </a:p>
        </p:txBody>
      </p:sp>
      <p:sp>
        <p:nvSpPr>
          <p:cNvPr id="3" name="Oval 2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2E6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1673351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Branch from branch-here-*</a:t>
            </a:r>
          </a:p>
          <a:p>
            <a:r>
              <a:rPr sz="1600" b="0" i="0">
                <a:solidFill>
                  <a:srgbClr val="B8C2DC"/>
                </a:solidFill>
                <a:latin typeface="Calibri"/>
              </a:rPr>
              <a:t>Never from release-*. main is fine to branch from directly.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880360"/>
            <a:ext cx="640080" cy="640080"/>
          </a:xfrm>
          <a:prstGeom prst="ellipse">
            <a:avLst/>
          </a:prstGeom>
          <a:solidFill>
            <a:srgbClr val="2E6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2816352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Let the bot merge forward</a:t>
            </a:r>
          </a:p>
          <a:p>
            <a:r>
              <a:rPr sz="1600" b="0" i="0">
                <a:solidFill>
                  <a:srgbClr val="B8C2DC"/>
                </a:solidFill>
                <a:latin typeface="Calibri"/>
              </a:rPr>
              <a:t>Clean merges flow to main automatically — no action needed.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4023360"/>
            <a:ext cx="640080" cy="640080"/>
          </a:xfrm>
          <a:prstGeom prst="ellipse">
            <a:avLst/>
          </a:prstGeom>
          <a:solidFill>
            <a:srgbClr val="2E6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3959352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Resolve conflicts where it tells you</a:t>
            </a:r>
          </a:p>
          <a:p>
            <a:r>
              <a:rPr sz="1600" b="0" i="0">
                <a:solidFill>
                  <a:srgbClr val="B8C2DC"/>
                </a:solidFill>
                <a:latin typeface="Calibri"/>
              </a:rPr>
              <a:t>The bot files an issue + a workspace branch. Fix there, open a PR.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5166360"/>
            <a:ext cx="640080" cy="640080"/>
          </a:xfrm>
          <a:prstGeom prst="ellipse">
            <a:avLst/>
          </a:prstGeom>
          <a:solidFill>
            <a:srgbClr val="2E6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5102352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Use manual-merge.sh to recover</a:t>
            </a:r>
          </a:p>
          <a:p>
            <a:r>
              <a:rPr sz="1600" b="0" i="0">
                <a:solidFill>
                  <a:srgbClr val="B8C2DC"/>
                </a:solidFill>
                <a:latin typeface="Calibri"/>
              </a:rPr>
              <a:t>Resets branches to a pristine state. Idempotent — safe to re-run.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